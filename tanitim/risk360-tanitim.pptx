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291840"/>
            <a:ext cx="5943600" cy="5943600"/>
          </a:xfrm>
          <a:prstGeom prst="ellipse">
            <a:avLst/>
          </a:prstGeom>
          <a:solidFill>
            <a:srgbClr val="0B1A33"/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1097280"/>
            <a:ext cx="2926080" cy="292608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0515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🛡️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risk360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İSG Yönetim Platformu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52044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Fabrikanızın iş sağlığı ve güvenliği süreçlerini tek, birbirine bağlı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sistemde toplayan kurumsal yazılım.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349240"/>
            <a:ext cx="73152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5303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modül  · 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 platform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5715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Tanıtım Sunumu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Fabrikada İSG yönetimi bugün nasıl yürüyor?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Çoğu fabrikada İş Sağlığı ve Güvenliği kayıtları dağınık ve birbirinden kopuk araçlarla tutulur: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777240" cy="7772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dirty="0">
                <a:solidFill>
                  <a:srgbClr val="000000"/>
                </a:solidFill>
              </a:rPr>
              <a:t>📁</a:t>
            </a:r>
            <a:endParaRPr lang="en-US" sz="238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246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Onlarca ayrı Excel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77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bir dosyada, risk değerlendirmesi başka bir dosyada, kaza kayıtları ayrı bir defterde.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2900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49040" y="2286000"/>
            <a:ext cx="777240" cy="7772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4904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dirty="0">
                <a:solidFill>
                  <a:srgbClr val="000000"/>
                </a:solidFill>
              </a:rPr>
              <a:t>📄</a:t>
            </a:r>
            <a:endParaRPr lang="en-US" sz="238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246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Kağıt tutanaklar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977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İmzalı formlar dolaplarda kaybolur; denetimde aranan belge bulunamaz.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37960" y="2286000"/>
            <a:ext cx="777240" cy="7772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3796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dirty="0">
                <a:solidFill>
                  <a:srgbClr val="000000"/>
                </a:solidFill>
              </a:rPr>
              <a:t>❓</a:t>
            </a:r>
            <a:endParaRPr lang="en-US" sz="238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246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"Kimde ne var?" belirsizliği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977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ekipmanın kontrolü geçti, hangi eğitimin süresi doldu — kimse net bilmez.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06840" y="196596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326880" y="2286000"/>
            <a:ext cx="777240" cy="7772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326880" y="2286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80" dirty="0">
                <a:solidFill>
                  <a:srgbClr val="000000"/>
                </a:solidFill>
              </a:rPr>
              <a:t>⏰</a:t>
            </a:r>
            <a:endParaRPr lang="en-US" sz="2380" dirty="0"/>
          </a:p>
        </p:txBody>
      </p:sp>
      <p:sp>
        <p:nvSpPr>
          <p:cNvPr id="22" name="Text 20"/>
          <p:cNvSpPr txBox="1"/>
          <p:nvPr/>
        </p:nvSpPr>
        <p:spPr>
          <a:xfrm>
            <a:off x="9235440" y="3246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Kaçırılan terminler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9235440" y="3977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Süresi geçmiş yangın tüpü, kapanmamış uygunsuzluk, unutulan periyodik kontrol kolayca gözden kaçar.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623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yasal denetimlerde eksik belge riski ve gerçek kaza riski birlikte artar.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platform,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birbirine bağlı 21 modül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risk360, fabrikanızdaki bütün İSG kayıtlarını — personelden risk değerlendirmesine, kazadan kurul toplantısına — aynı sistemde, birbirine bağlı olarak tutar.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0332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377647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464515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Veri Tabanı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4068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551383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Çıktı Formatı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PDF · Excel · PPTX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5577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11" name="Image 0" descr="/tmp/claude-0/-home-user-risk361/f13354e1-b2cc-52ad-9c31-b8bd883bf31d/scratchpad/pptx/shots/02-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72200" y="1234440"/>
            <a:ext cx="5486400" cy="34290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Basit giriş, çoklu firma yönetimi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94360" y="137160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4" name="Image 0" descr="/tmp/claude-0/-home-user-risk361/f13354e1-b2cc-52ad-9c31-b8bd883bf31d/scratchpad/pptx/shots/01-logi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417320"/>
            <a:ext cx="512064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09360" y="1554480"/>
            <a:ext cx="548640" cy="5486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309360" y="1554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🔐</a:t>
            </a:r>
            <a:endParaRPr lang="en-US" sz="168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5270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 adı / şifre ile güvenli giriş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040880" y="18745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kullanıcının kendi rolüne göre yetkileri vardır.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309360" y="2724912"/>
            <a:ext cx="548640" cy="5486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309360" y="27249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🏢</a:t>
            </a:r>
            <a:endParaRPr lang="en-US" sz="168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 hesapla birden fazla firma/tesis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30449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OSGB veya holding, yönettiği tüm fabrikaları tek panelden görür.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09360" y="3895344"/>
            <a:ext cx="548640" cy="5486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3895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👤</a:t>
            </a:r>
            <a:endParaRPr lang="en-US" sz="1680" dirty="0"/>
          </a:p>
        </p:txBody>
      </p:sp>
      <p:sp>
        <p:nvSpPr>
          <p:cNvPr id="15" name="Text 12"/>
          <p:cNvSpPr txBox="1"/>
          <p:nvPr/>
        </p:nvSpPr>
        <p:spPr>
          <a:xfrm>
            <a:off x="7040880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 bazlı erişim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040880" y="42153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Admin, İK ve düzenleyici rolleri — kim neyi görebilir, kim silebilir net tanımlıdır.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309360" y="5065776"/>
            <a:ext cx="548640" cy="54864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309360" y="50657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dirty="0">
                <a:solidFill>
                  <a:srgbClr val="000000"/>
                </a:solidFill>
              </a:rPr>
              <a:t>🔑</a:t>
            </a:r>
            <a:endParaRPr lang="en-US" sz="1680" dirty="0"/>
          </a:p>
        </p:txBody>
      </p:sp>
      <p:sp>
        <p:nvSpPr>
          <p:cNvPr id="19" name="Text 16"/>
          <p:cNvSpPr txBox="1"/>
          <p:nvPr/>
        </p:nvSpPr>
        <p:spPr>
          <a:xfrm>
            <a:off x="7040880" y="503834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Şifre değiştirme ve giriş kayıtları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040880" y="53858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Kim, ne zaman giriş yaptı — izlenebilir.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 panelden tüm modüllere tek tıkla erişim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giriş yaptığında karşısına çıkan panelde tüm modüller kart olarak listelenir; her kartta modülün ne işe yaradığı kısaca yazar. Sağ üstteki "📖 Kullanım Kılavuzu" butonu, uygulamayı hiç kullanmamış birinin bile modül modül eğitim alabileceği kılavuza götürür.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91640" y="1920240"/>
            <a:ext cx="8778240" cy="55206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5" name="Image 0" descr="/tmp/claude-0/-home-user-risk361/f13354e1-b2cc-52ad-9c31-b8bd883bf31d/scratchpad/pptx/shots/02-dashboar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737360" y="1965960"/>
            <a:ext cx="8686800" cy="54292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modül, 6 ana başlıkta toplanır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DCE6F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6184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Kayıtlar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88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Personel · Eğitim ve Sınav · Yıllık Plan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17720" y="16184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⚠️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ve Tehlike Yönetimi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788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· JSA · Tespit-Öneri · Uygunsuzluk · Saha Denetim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8160" y="14173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DCE6F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366760" y="16184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🚨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2860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Olay ve Acil Durum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7889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Olay/Kaza · Acil Durum · Kimyasal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1330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🛠️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Ekipman, Saha ve İzinler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303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Periyodik Kontrol · KKD · İş İzinleri · Tabela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389120" y="39319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DCE6F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0" y="41330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🏗️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 Kaynağı Uyumu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17720" y="5303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 · Yüklenici · Hizmet Sözleşmesi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138160" y="3931920"/>
            <a:ext cx="3566160" cy="2331720"/>
          </a:xfrm>
          <a:prstGeom prst="roundRect">
            <a:avLst>
              <a:gd name="adj" fmla="val 3529"/>
            </a:avLst>
          </a:prstGeom>
          <a:solidFill>
            <a:srgbClr val="F7F8F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366760" y="4133088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8366760" y="48006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 ve Raporlama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530352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Yönetimi · Raporlar · Harita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KAYITLAR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Personel — platformun kimlik omurgası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çalışanların özlük bilgileri tek merkezde tutulur. Neredeyse her modül (eğitim, kaza, KKD, acil durum ekipleri, kurul) kişi listesini buradan alır.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95351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8254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Sicil no, bölüm, görev, işe giriş tarihi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33924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Organizasyon şeması — otomatik yazdırılabilir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087368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ile toplu içe/dışa aktarım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katılım formu (imza listesi) üretimi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14" name="Image 0" descr="/tmp/claude-0/-home-user-risk361/f13354e1-b2cc-52ad-9c31-b8bd883bf31d/scratchpad/pptx/shots/04-persone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051560"/>
            <a:ext cx="5394960" cy="337185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VE TEHLIKE YÖNETIMI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Değerlendirmesi — yasal zorunluluk, dijital ve hızlı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6331 sayılı Kanun gereği zorunlu risk değerlendirmesi, Fine-Kinney veya 5x5 Matris yöntemiyle yapılandırılmış şekilde tutulur; risk puanı ve düzeyi otomatik hesaplanır.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95351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8254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hazır tehlike/risk şablonundan hızlı kayıt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33924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Önlem öncesi/sonrası risk azalması izlenir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087368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rapor, PPTX sunum, Excel checklist çıktısı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 Dijital Haritası üzerinde konumlandırma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14" name="Image 0" descr="/tmp/claude-0/-home-user-risk361/f13354e1-b2cc-52ad-9c31-b8bd883bf31d/scratchpad/pptx/shots/05-risk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051560"/>
            <a:ext cx="5394960" cy="337185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VE ACIL DURUM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49808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Acil Durum — yangın ve tahliye hazırlığı her an kontrol altında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630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Yangın tüpleri, söndürme ekipmanları, ekipler ve tatbikatlar tek modülde. Süresi geçen bir kontrol tabloda kırmızı "Gecikmiş" rozetiyle anında görünür.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95351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82549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Ekipman/tüp barkodlu saha kontrolü (kamera ile)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96112" y="33924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"Gecikmiş / Yaklaşıyor" durum hesaplama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087368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6112" y="395935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 görevlendirme yazısı, kontrol formu (Word)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654296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96112" y="45262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Acil Durum Planı — Word / PDF / PPTX tam belge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00584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14" name="Image 0" descr="/tmp/claude-0/-home-user-risk361/f13354e1-b2cc-52ad-9c31-b8bd883bf31d/scratchpad/pptx/shots/06-acil-duru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051560"/>
            <a:ext cx="5394960" cy="337185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Ekipman, Saha ve İzinler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Ekipmanların, sahanın ve riskli işlerin güvenli şekilde yürütülmesini sağlayan dört modül.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0B1A3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40280"/>
            <a:ext cx="685800" cy="6858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🛠️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2219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Periyodik Kontrol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Basınçlı kap, vinç, forklift, elektrik tesisatı gibi ekipmanların yasal muayene takibi.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96596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0B1A33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240280"/>
            <a:ext cx="685800" cy="6858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🦺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22199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KKD Takibi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88036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Zimmet, ihlal tutanağı, satın alma öncesi saha denemesi ve malzeme talep oluru.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0B1A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389120"/>
            <a:ext cx="685800" cy="6858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🪧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3708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Yönetimi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Sahadaki İSG levhaları, eksik levha ihtiyaçları ve levha kataloğu.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114800"/>
            <a:ext cx="5349240" cy="1920240"/>
          </a:xfrm>
          <a:prstGeom prst="roundRect">
            <a:avLst>
              <a:gd name="adj" fmla="val 4286"/>
            </a:avLst>
          </a:prstGeom>
          <a:solidFill>
            <a:srgbClr val="0B1A33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389120"/>
            <a:ext cx="685800" cy="68580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3891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🧾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370832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İş İzinleri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502920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Sıcak çalışma, kapalı alan, yükseklik — gaz ölçümü ve LOTO dahil 3 imzalı izin.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İnsan Kaynağı Uyumu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Sahaya giren herkesin — stajyer, yüklenici, dış uzman — belgeli ve güncel olmasını garanti eden modüller.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48840"/>
            <a:ext cx="685800" cy="68580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🧑‍🎓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48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Staj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Stajyer kayıtları ve zorunlu Temel İSG eğitim sertifikası.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217920" y="187452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148840"/>
            <a:ext cx="685800" cy="68580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488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🏗️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7360920" y="214884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Yüklenici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78892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Taşeron firma, personel, araç — elektronik kapı kontrolü; eksik belgeli kimse sahaya giremez.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4297680"/>
            <a:ext cx="685800" cy="68580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🖋️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297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Hizmet Sözleşmeleri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İG Uzmanı / İşyeri Hekimi sözleşme süresi ve yasal asgari süre karşılaştırması.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17920" y="4023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92240" y="4297680"/>
            <a:ext cx="685800" cy="685800"/>
          </a:xfrm>
          <a:prstGeom prst="ellipse">
            <a:avLst/>
          </a:prstGeom>
          <a:solidFill>
            <a:srgbClr val="DCE6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92240" y="4297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📝</a:t>
            </a:r>
            <a:endParaRPr lang="en-US" sz="2100" dirty="0"/>
          </a:p>
        </p:txBody>
      </p:sp>
      <p:sp>
        <p:nvSpPr>
          <p:cNvPr id="22" name="Text 20"/>
          <p:cNvSpPr txBox="1"/>
          <p:nvPr/>
        </p:nvSpPr>
        <p:spPr>
          <a:xfrm>
            <a:off x="7360920" y="42976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Sınav Oluşturucu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4937760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 modülünün içinde: verilen eğitimin öğrenildiğini ölçen soru bankası ve otomatik sınav üretimi.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Yönetim ve Raporlama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İSG Kurulu, ÇSGB denetimi ve konu toplantıları resmi tutanağa bağlanır; Uygunsuzluk (DÖF) süreci kök nedenden kapanışa kadar izlenir.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6459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5" name="Image 0" descr="/tmp/claude-0/-home-user-risk361/f13354e1-b2cc-52ad-9c31-b8bd883bf31d/scratchpad/pptx/shots/08-kuru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91640"/>
            <a:ext cx="5394960" cy="33718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64592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7" name="Image 1" descr="/tmp/claude-0/-home-user-risk361/f13354e1-b2cc-52ad-9c31-b8bd883bf31d/scratchpad/pptx/shots/07-uygunsuzluk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91640"/>
            <a:ext cx="5394960" cy="337185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Toplantı Yönetimi — İSG Kurulu, ÇSGB denetimi, konu toplantıları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263640" y="507492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Uygunsuzluk (DÖF) — İSG ve Çevre; kök neden ve kapanış takibi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Modüller birbirine bağlıdır — bu sistemin gerçek gücü burada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kayıt tek bir modülde kalmaz — ilgili olduğu her yere otomatik yansır. Örnek: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5A62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🚑  Bir iş kazası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kaydedilir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74720" y="2354580"/>
            <a:ext cx="685800" cy="388620"/>
          </a:xfrm>
          <a:prstGeom prst="line">
            <a:avLst/>
          </a:prstGeom>
          <a:noFill/>
          <a:ln w="19050">
            <a:solidFill>
              <a:srgbClr val="9FB3D1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4160520" y="237744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0B1A33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297680" y="23774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Risk kaydına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düşer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0" y="2354580"/>
            <a:ext cx="685800" cy="1348740"/>
          </a:xfrm>
          <a:prstGeom prst="line">
            <a:avLst/>
          </a:prstGeom>
          <a:noFill/>
          <a:ln w="19050">
            <a:solidFill>
              <a:srgbClr val="9FB3D1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160520" y="333756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0B1A33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97680" y="33375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Uygunsuzluk/DÖF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süreci başlar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474720" y="2354580"/>
            <a:ext cx="685800" cy="2308860"/>
          </a:xfrm>
          <a:prstGeom prst="line">
            <a:avLst/>
          </a:prstGeom>
          <a:noFill/>
          <a:ln w="19050">
            <a:solidFill>
              <a:srgbClr val="9FB3D1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4160520" y="4297680"/>
            <a:ext cx="3108960" cy="731520"/>
          </a:xfrm>
          <a:prstGeom prst="roundRect">
            <a:avLst>
              <a:gd name="adj" fmla="val 8750"/>
            </a:avLst>
          </a:prstGeom>
          <a:solidFill>
            <a:srgbClr val="0B1A33"/>
          </a:solidFill>
          <a:ln w="12700">
            <a:solidFill>
              <a:srgbClr val="2C5F8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97680" y="429768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 Kurul toplantı</a:t>
            </a:r>
            <a:endParaRPr lang="en-US" sz="11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raporuna işlenir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37744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hiçbir kayıt tek başına kalmaz, hiçbir termin unutulmaz.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Birkaç tıkla, denetime hazır resmi çıktılar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modül kendi verisinden, doğru yasal formatta rapor üretir — elle yazmaya gerek kalmaz.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3040" y="2148840"/>
            <a:ext cx="960120" cy="960120"/>
          </a:xfrm>
          <a:prstGeom prst="roundRect">
            <a:avLst>
              <a:gd name="adj" fmla="val 47619"/>
            </a:avLst>
          </a:prstGeom>
          <a:solidFill>
            <a:srgbClr val="FF6B6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📄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657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 raporu, ekip görevlendirme yazısı, kurul tutanağı, numune değerlendirme formu...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2148840"/>
            <a:ext cx="960120" cy="960120"/>
          </a:xfrm>
          <a:prstGeom prst="roundRect">
            <a:avLst>
              <a:gd name="adj" fmla="val 47619"/>
            </a:avLst>
          </a:prstGeom>
          <a:solidFill>
            <a:srgbClr val="E23B3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5196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📕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3657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değerlendirme raporu, iş izni formu, eğitim sertifikası, kontrol formu...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17920" y="18745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40880" y="2148840"/>
            <a:ext cx="960120" cy="960120"/>
          </a:xfrm>
          <a:prstGeom prst="roundRect">
            <a:avLst>
              <a:gd name="adj" fmla="val 47619"/>
            </a:avLst>
          </a:prstGeom>
          <a:solidFill>
            <a:srgbClr val="16A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04088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657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 içe/dışa aktarım şablonları, sicil özeti, kayıt dökümleri...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840" y="187452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29800" y="2148840"/>
            <a:ext cx="960120" cy="960120"/>
          </a:xfrm>
          <a:prstGeom prst="roundRect">
            <a:avLst>
              <a:gd name="adj" fmla="val 47619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829800" y="21488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📽️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9006840" y="3246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PPTX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189720" y="365760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değerlendirme sunumu, İSG Kurulu toplantı sunumu...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Ekibinizi eğitmek için: uygulama içi kullanım kılavuzu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panelin en üstündeki "📖 Kullanım Kılavuzu" butonuyla açılan sayfa, 21 modülün her birini kim, ne, nasıl girer / hangi raporlar çıkar / hangi modülle bağlantılıdır sorularıyla anlatır. Uygulamayı hiç görmemiş bir çalışan bile tek başına okuyup öğrenebilir.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217920" y="1005840"/>
            <a:ext cx="5486400" cy="346329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127000" dist="50800" dir="5400000">
              <a:srgbClr val="0B1A33">
                <a:alpha val="35000"/>
              </a:srgbClr>
            </a:outerShdw>
          </a:effectLst>
        </p:spPr>
      </p:sp>
      <p:pic>
        <p:nvPicPr>
          <p:cNvPr id="5" name="Image 0" descr="/tmp/claude-0/-home-user-risk361/f13354e1-b2cc-52ad-9c31-b8bd883bf31d/scratchpad/pptx/shots/03-kilavuz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63640" y="1051560"/>
            <a:ext cx="5394960" cy="337185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CC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0B1A3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64008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Dağınık kayıttan,</a:t>
            </a:r>
            <a:endParaRPr lang="en-US" sz="3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izlenebilir bir bütüne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640080" cy="64008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⏱️</a:t>
            </a:r>
            <a:endParaRPr lang="en-US" sz="196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304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Zaman tasarrufu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6791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 hazırlamak saatler değil dakikalar sürer.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2331720"/>
            <a:ext cx="640080" cy="64008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21792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🛡️</a:t>
            </a:r>
            <a:endParaRPr lang="en-US" sz="1960" dirty="0"/>
          </a:p>
        </p:txBody>
      </p:sp>
      <p:sp>
        <p:nvSpPr>
          <p:cNvPr id="10" name="Text 8"/>
          <p:cNvSpPr txBox="1"/>
          <p:nvPr/>
        </p:nvSpPr>
        <p:spPr>
          <a:xfrm>
            <a:off x="7086600" y="230428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Denetime her an hazır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86600" y="26791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belgeler tek tıkla, eksiksiz ve doğru formatta.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640080" cy="64008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🔗</a:t>
            </a:r>
            <a:endParaRPr lang="en-US" sz="196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58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Hiçbir kayıt kaybolmaz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2336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Modüller birbirine bağlı — bir veri, ilgili her yere yansır.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886200"/>
            <a:ext cx="640080" cy="640080"/>
          </a:xfrm>
          <a:prstGeom prst="ellipse">
            <a:avLst/>
          </a:prstGeom>
          <a:solidFill>
            <a:srgbClr val="2C5F8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60" dirty="0">
                <a:solidFill>
                  <a:srgbClr val="000000"/>
                </a:solidFill>
              </a:rPr>
              <a:t>✅</a:t>
            </a:r>
            <a:endParaRPr lang="en-US" sz="1960" dirty="0"/>
          </a:p>
        </p:txBody>
      </p:sp>
      <p:sp>
        <p:nvSpPr>
          <p:cNvPr id="18" name="Text 16"/>
          <p:cNvSpPr txBox="1"/>
          <p:nvPr/>
        </p:nvSpPr>
        <p:spPr>
          <a:xfrm>
            <a:off x="7086600" y="3858768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A6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Gerçek kaza riski azalır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423367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Süresi geçen kontrol, kapanmayan uygunsuzluk gözden kaçmaz.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172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risk360 İSG Yönetim Platformu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7572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2026-08-29T07:15:38Z</dcterms:created>
  <dcterms:modified xsi:type="dcterms:W3CDTF">2026-08-29T07:15:38Z</dcterms:modified>
</cp:coreProperties>
</file>