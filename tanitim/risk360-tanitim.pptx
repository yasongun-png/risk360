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294B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3291840"/>
            <a:ext cx="5943600" cy="5943600"/>
          </a:xfrm>
          <a:prstGeom prst="ellipse">
            <a:avLst/>
          </a:prstGeom>
          <a:solidFill>
            <a:srgbClr val="0B1A33"/>
          </a:solidFill>
          <a:ln/>
        </p:spPr>
      </p:sp>
      <p:sp>
        <p:nvSpPr>
          <p:cNvPr id="4" name="Shape 2"/>
          <p:cNvSpPr/>
          <p:nvPr/>
        </p:nvSpPr>
        <p:spPr>
          <a:xfrm>
            <a:off x="9875520" y="1097280"/>
            <a:ext cx="2926080" cy="2926080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0515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dirty="0">
                <a:solidFill>
                  <a:srgbClr val="000000"/>
                </a:solidFill>
              </a:rPr>
              <a:t>🛡️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risk360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80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İSG Yönetim Platformu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2044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Fabrikanızın iş sağlığı ve güvenliği süreçlerini tek, birbirine bağlı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dijital sistemde toplayan kurumsal yazılım.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5349240"/>
            <a:ext cx="73152" cy="82296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" y="5303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modül  ·  </a:t>
            </a:r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platform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57150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Tanıtım Sunumu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Fabrikada İSG yönetimi bugün nasıl yürüyor?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Çoğu fabrikada İş Sağlığı ve Güvenliği kayıtları dağınık ve birbirinden kopuk araçlarla tutulur: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86000"/>
            <a:ext cx="777240" cy="777240"/>
          </a:xfrm>
          <a:prstGeom prst="ellipse">
            <a:avLst/>
          </a:prstGeom>
          <a:solidFill>
            <a:srgbClr val="DCE6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2860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000000"/>
                </a:solidFill>
              </a:rPr>
              <a:t>📁</a:t>
            </a:r>
            <a:endParaRPr lang="en-US" sz="238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461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Onlarca ayrı Excel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977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Personel bir dosyada, risk değerlendirmesi başka bir dosyada, kaza kayıtları ayrı bir defterde.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29000" y="196596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749040" y="2286000"/>
            <a:ext cx="777240" cy="777240"/>
          </a:xfrm>
          <a:prstGeom prst="ellipse">
            <a:avLst/>
          </a:prstGeom>
          <a:solidFill>
            <a:srgbClr val="DCE6F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49040" y="22860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000000"/>
                </a:solidFill>
              </a:rPr>
              <a:t>📄</a:t>
            </a:r>
            <a:endParaRPr lang="en-US" sz="238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2461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Kağıt tutanaklar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977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İmzalı formlar dolaplarda kaybolur; denetimde aranan belge bulunamaz.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196596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37960" y="2286000"/>
            <a:ext cx="777240" cy="777240"/>
          </a:xfrm>
          <a:prstGeom prst="ellipse">
            <a:avLst/>
          </a:prstGeom>
          <a:solidFill>
            <a:srgbClr val="DCE6F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37960" y="22860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000000"/>
                </a:solidFill>
              </a:rPr>
              <a:t>❓</a:t>
            </a:r>
            <a:endParaRPr lang="en-US" sz="238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2461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"Kimde ne var?" belirsizliği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977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Hangi ekipmanın kontrolü geçti, hangi eğitimin süresi doldu — kimse net bilmez.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06840" y="196596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26880" y="2286000"/>
            <a:ext cx="777240" cy="777240"/>
          </a:xfrm>
          <a:prstGeom prst="ellipse">
            <a:avLst/>
          </a:prstGeom>
          <a:solidFill>
            <a:srgbClr val="DCE6F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6880" y="22860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000000"/>
                </a:solidFill>
              </a:rPr>
              <a:t>⏰</a:t>
            </a:r>
            <a:endParaRPr lang="en-US" sz="2380" dirty="0"/>
          </a:p>
        </p:txBody>
      </p:sp>
      <p:sp>
        <p:nvSpPr>
          <p:cNvPr id="22" name="Text 20"/>
          <p:cNvSpPr txBox="1"/>
          <p:nvPr/>
        </p:nvSpPr>
        <p:spPr>
          <a:xfrm>
            <a:off x="9235440" y="32461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Kaçırılan terminler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3977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Süresi geçmiş yangın tüpü, kapanmamış uygunsuzluk, unutulan periyodik kontrol kolayca gözden kaçar.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Sonuç: yasal denetimlerde eksik belge riski ve gerçek kaza riski birlikte artar.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Tek platform,</a:t>
            </a:r>
            <a:endParaRPr lang="en-US" sz="3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birbirine bağlı 24 modül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3172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risk360, fabrikanızdaki bütün İSG kayıtlarını — personelden risk değerlendirmesine, kazadan kurul toplantısına — aynı sistemde, birbirine bağlı olarak tutar.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033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2148840" y="377647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Modül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57200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48840" y="464515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Ortak Veri Tabanı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4406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2148840" y="55138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Çıktı Formatı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· PDF · Excel · PPTX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0" y="1188720"/>
            <a:ext cx="55778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27000" dist="50800" dir="5400000">
              <a:srgbClr val="0B1A33">
                <a:alpha val="35000"/>
              </a:srgbClr>
            </a:outerShdw>
          </a:effectLst>
        </p:spPr>
      </p:sp>
      <p:pic>
        <p:nvPicPr>
          <p:cNvPr id="11" name="Image 0" descr="/tmp/claude-0/-home-user-risk361/f13354e1-b2cc-52ad-9c31-b8bd883bf31d/scratchpad/pptx/shots/02-dashboar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72200" y="1234440"/>
            <a:ext cx="5486400" cy="34290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Basit giriş, çoklu firma yönetimi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94360" y="1371600"/>
            <a:ext cx="52120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27000" dist="50800" dir="5400000">
              <a:srgbClr val="0B1A33">
                <a:alpha val="35000"/>
              </a:srgbClr>
            </a:outerShdw>
          </a:effectLst>
        </p:spPr>
      </p:sp>
      <p:pic>
        <p:nvPicPr>
          <p:cNvPr id="4" name="Image 0" descr="/tmp/claude-0/-home-user-risk361/f13354e1-b2cc-52ad-9c31-b8bd883bf31d/scratchpad/pptx/shots/01-logi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17320"/>
            <a:ext cx="512064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309360" y="1554480"/>
            <a:ext cx="548640" cy="548640"/>
          </a:xfrm>
          <a:prstGeom prst="ellipse">
            <a:avLst/>
          </a:prstGeom>
          <a:solidFill>
            <a:srgbClr val="DCE6F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30936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dirty="0">
                <a:solidFill>
                  <a:srgbClr val="000000"/>
                </a:solidFill>
              </a:rPr>
              <a:t>🔐</a:t>
            </a:r>
            <a:endParaRPr lang="en-US" sz="1680" dirty="0"/>
          </a:p>
        </p:txBody>
      </p:sp>
      <p:sp>
        <p:nvSpPr>
          <p:cNvPr id="7" name="Text 4"/>
          <p:cNvSpPr txBox="1"/>
          <p:nvPr/>
        </p:nvSpPr>
        <p:spPr>
          <a:xfrm>
            <a:off x="7040880" y="15270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Kullanıcı adı / şifre ile güvenli giriş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040880" y="18745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kullanıcının kendi rolüne göre yetkileri vardır.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309360" y="2724912"/>
            <a:ext cx="548640" cy="548640"/>
          </a:xfrm>
          <a:prstGeom prst="ellipse">
            <a:avLst/>
          </a:prstGeom>
          <a:solidFill>
            <a:srgbClr val="DCE6F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309360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dirty="0">
                <a:solidFill>
                  <a:srgbClr val="000000"/>
                </a:solidFill>
              </a:rPr>
              <a:t>🏢</a:t>
            </a:r>
            <a:endParaRPr lang="en-US" sz="1680" dirty="0"/>
          </a:p>
        </p:txBody>
      </p:sp>
      <p:sp>
        <p:nvSpPr>
          <p:cNvPr id="11" name="Text 8"/>
          <p:cNvSpPr txBox="1"/>
          <p:nvPr/>
        </p:nvSpPr>
        <p:spPr>
          <a:xfrm>
            <a:off x="7040880" y="26974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Tek hesapla birden fazla firma/tesis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044952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OSGB veya holding, yönettiği tüm fabrikaları tek panelden görür.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309360" y="3895344"/>
            <a:ext cx="548640" cy="548640"/>
          </a:xfrm>
          <a:prstGeom prst="ellipse">
            <a:avLst/>
          </a:prstGeom>
          <a:solidFill>
            <a:srgbClr val="DCE6F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38953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dirty="0">
                <a:solidFill>
                  <a:srgbClr val="000000"/>
                </a:solidFill>
              </a:rPr>
              <a:t>👤</a:t>
            </a:r>
            <a:endParaRPr lang="en-US" sz="168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3867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 bazlı erişim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421538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Admin, İK ve düzenleyici rolleri — kim neyi görebilir, kim silebilir net tanımlıdır.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309360" y="5065776"/>
            <a:ext cx="548640" cy="548640"/>
          </a:xfrm>
          <a:prstGeom prst="ellipse">
            <a:avLst/>
          </a:prstGeom>
          <a:solidFill>
            <a:srgbClr val="DCE6F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309360" y="50657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dirty="0">
                <a:solidFill>
                  <a:srgbClr val="000000"/>
                </a:solidFill>
              </a:rPr>
              <a:t>🔑</a:t>
            </a:r>
            <a:endParaRPr lang="en-US" sz="168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503834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Şifre değiştirme ve giriş kayıtları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5385816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Kim, ne zaman giriş yaptı — izlenebilir.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 panelden tüm modüllere tek tıkla erişim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giriş yaptığında karşısına çıkan panelde tüm modüller kart olarak listelenir; her kartta modülün ne işe yaradığı kısaca yazar. Sağ üstteki "📖 Kullanım Kılavuzu" butonu, uygulamayı hiç kullanmamış birinin bile modül modül eğitim alabileceği kılavuza götürür.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691640" y="1920240"/>
            <a:ext cx="8778240" cy="55206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27000" dist="50800" dir="5400000">
              <a:srgbClr val="0B1A33">
                <a:alpha val="35000"/>
              </a:srgbClr>
            </a:outerShdw>
          </a:effectLst>
        </p:spPr>
      </p:sp>
      <p:pic>
        <p:nvPicPr>
          <p:cNvPr id="5" name="Image 0" descr="/tmp/claude-0/-home-user-risk361/f13354e1-b2cc-52ad-9c31-b8bd883bf31d/scratchpad/pptx/shots/02-dashboar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965960"/>
            <a:ext cx="8686800" cy="54292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modül, 6 ana başlıkta toplanır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3566160" cy="2331720"/>
          </a:xfrm>
          <a:prstGeom prst="roundRect">
            <a:avLst>
              <a:gd name="adj" fmla="val 3529"/>
            </a:avLst>
          </a:prstGeom>
          <a:solidFill>
            <a:srgbClr val="DCE6F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184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👥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2860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Temel Kayıtlar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889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Personel · Eğitim · Yıllık Plan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89120" y="1417320"/>
            <a:ext cx="3566160" cy="233172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7720" y="16184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⚠️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2860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ve Tehlike Yönetimi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7889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· JSA · Tespit-Öneri · Uygunsuzluk · Saha Denetim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38160" y="1417320"/>
            <a:ext cx="3566160" cy="2331720"/>
          </a:xfrm>
          <a:prstGeom prst="roundRect">
            <a:avLst>
              <a:gd name="adj" fmla="val 3529"/>
            </a:avLst>
          </a:prstGeom>
          <a:solidFill>
            <a:srgbClr val="DCE6F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66760" y="16184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🚨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22860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Olay ve Acil Durum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7889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Olay/Kaza · Acil Durum · Kimyasal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931920"/>
            <a:ext cx="3566160" cy="233172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1330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🛠️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48006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Ekipman, Bakım ve İzinler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53035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Periyodik Kontrol · KKD · Bakım Onarım · İş İzinleri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3931920"/>
            <a:ext cx="3566160" cy="2331720"/>
          </a:xfrm>
          <a:prstGeom prst="roundRect">
            <a:avLst>
              <a:gd name="adj" fmla="val 3529"/>
            </a:avLst>
          </a:prstGeom>
          <a:solidFill>
            <a:srgbClr val="DCE6F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617720" y="41330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🏗️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617720" y="48006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İnsan Kaynağı Uyumu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617720" y="53035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Staj · Yüklenici · Hizmet Sözleşmesi · Sınav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3931920"/>
            <a:ext cx="3566160" cy="233172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66760" y="41330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8366760" y="48006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Yönetim ve Raporlama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366760" y="53035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Kurul · Merkezi Aksiyon · Raporlar · Harita · Malzeme Talep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KAYITLAR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Personel — platformun kimlik omurgası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çalışanların özlük bilgileri tek merkezde tutulur. Neredeyse her modül (eğitim, kaza, KKD, acil durum ekipleri, kurul) kişi listesini buradan alır.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953512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2825496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Sicil no, bölüm, görev, işe giriş tarihi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33924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Organizasyon şeması — otomatik yazdırılabilir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4087368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96112" y="39593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ile toplu içe/dışa aktarım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654296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45262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 katılım formu (imza listesi) üretimi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1005840"/>
            <a:ext cx="5486400" cy="34632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27000" dist="50800" dir="5400000">
              <a:srgbClr val="0B1A33">
                <a:alpha val="35000"/>
              </a:srgbClr>
            </a:outerShdw>
          </a:effectLst>
        </p:spPr>
      </p:sp>
      <p:pic>
        <p:nvPicPr>
          <p:cNvPr id="14" name="Image 0" descr="/tmp/claude-0/-home-user-risk361/f13354e1-b2cc-52ad-9c31-b8bd883bf31d/scratchpad/pptx/shots/04-persone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63640" y="1051560"/>
            <a:ext cx="5394960" cy="337185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VE TEHLIKE YÖNETIMI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Değerlendirmesi — yasal zorunluluk, dijital ve hızlı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6331 sayılı Kanun gereği zorunlu risk değerlendirmesi, Fine-Kinney veya 5x5 Matris yöntemiyle yapılandırılmış şekilde tutulur; risk puanı ve düzeyi otomatik hesaplanır.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953512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2825496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 hazır tehlike/risk şablonundan hızlı kayıt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33924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Önlem öncesi/sonrası risk azalması izlenir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4087368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96112" y="39593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rapor, PPTX sunum, Excel checklist çıktısı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654296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45262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Saha Dijital Haritası üzerinde konumlandırma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1005840"/>
            <a:ext cx="5486400" cy="34632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27000" dist="50800" dir="5400000">
              <a:srgbClr val="0B1A33">
                <a:alpha val="35000"/>
              </a:srgbClr>
            </a:outerShdw>
          </a:effectLst>
        </p:spPr>
      </p:sp>
      <p:pic>
        <p:nvPicPr>
          <p:cNvPr id="14" name="Image 0" descr="/tmp/claude-0/-home-user-risk361/f13354e1-b2cc-52ad-9c31-b8bd883bf31d/scratchpad/pptx/shots/05-ri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63640" y="1051560"/>
            <a:ext cx="5394960" cy="337185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OLAY VE ACIL DURUM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Acil Durum — yangın ve tahliye hazırlığı her an kontrol altında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Yangın tüpleri, söndürme ekipmanları, ekipler ve tatbikatlar tek modülde. Süresi geçen bir kontrol tabloda kırmızı "Gecikmiş" rozetiyle anında görünür.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953512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2825496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Ekipman/tüp barkodlu saha kontrolü (kamera ile)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33924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Otomatik "Gecikmiş / Yaklaşıyor" durum hesaplama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4087368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96112" y="39593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Ekip görevlendirme yazısı, kontrol formu (Word)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654296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45262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Acil Durum Planı — Word / PDF / PPTX tam belge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1005840"/>
            <a:ext cx="5486400" cy="34632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27000" dist="50800" dir="5400000">
              <a:srgbClr val="0B1A33">
                <a:alpha val="35000"/>
              </a:srgbClr>
            </a:outerShdw>
          </a:effectLst>
        </p:spPr>
      </p:sp>
      <p:pic>
        <p:nvPicPr>
          <p:cNvPr id="14" name="Image 0" descr="/tmp/claude-0/-home-user-risk361/f13354e1-b2cc-52ad-9c31-b8bd883bf31d/scratchpad/pptx/shots/06-acil-duru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63640" y="1051560"/>
            <a:ext cx="5394960" cy="337185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Ekipman, Bakım ve İzinler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Riskli işlerin ve ekipmanların güvenli şekilde yürütülmesini sağlayan dört modül.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0B1A33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40280"/>
            <a:ext cx="685800" cy="685800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40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🛠️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22199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Periyodik Kontrol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803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Basınçlı kap, vinç, forklift, elektrik tesisatı gibi ekipmanların yasal muayene takibi.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96596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0B1A33"/>
          </a:solidFill>
          <a:ln/>
        </p:spPr>
      </p:sp>
      <p:sp>
        <p:nvSpPr>
          <p:cNvPr id="10" name="Shape 8"/>
          <p:cNvSpPr/>
          <p:nvPr/>
        </p:nvSpPr>
        <p:spPr>
          <a:xfrm>
            <a:off x="6492240" y="2240280"/>
            <a:ext cx="685800" cy="685800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92240" y="2240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🦺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222199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KKD Takibi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8803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Zimmet, ihlal tutanağı ve satın alma öncesi saha denemesi.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114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0B1A33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4389120"/>
            <a:ext cx="685800" cy="685800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389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🔧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437083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Bakım Onarım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502920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Arıza bildiriminden İSG onaylı kapanışa kadar tek akış.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4114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0B1A33"/>
          </a:solidFill>
          <a:ln/>
        </p:spPr>
      </p:sp>
      <p:sp>
        <p:nvSpPr>
          <p:cNvPr id="20" name="Shape 18"/>
          <p:cNvSpPr/>
          <p:nvPr/>
        </p:nvSpPr>
        <p:spPr>
          <a:xfrm>
            <a:off x="6492240" y="4389120"/>
            <a:ext cx="685800" cy="685800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92240" y="4389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🧾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360920" y="437083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İş İzinleri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502920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Sıcak çalışma, kapalı alan, yükseklik — gaz ölçümü ve LOTO dahil 3 imzalı izin.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İnsan Kaynağı Uyumu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Sahaya giren herkesin — stajyer, yüklenici, dış uzman — belgeli ve güncel olmasını garanti eden modüller.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48840"/>
            <a:ext cx="685800" cy="685800"/>
          </a:xfrm>
          <a:prstGeom prst="ellipse">
            <a:avLst/>
          </a:prstGeom>
          <a:solidFill>
            <a:srgbClr val="DCE6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1488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🧑‍🎓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14884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Staj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78892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Stajyer kayıtları ve zorunlu Temel İSG eğitim sertifikası.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87452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2148840"/>
            <a:ext cx="685800" cy="685800"/>
          </a:xfrm>
          <a:prstGeom prst="ellipse">
            <a:avLst/>
          </a:prstGeom>
          <a:solidFill>
            <a:srgbClr val="DCE6F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92240" y="21488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🏗️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214884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Yüklenici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78892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Taşeron firma, personel, araç — elektronik kapı kontrolü; eksik belgeli kimse sahaya giremez.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02336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297680"/>
            <a:ext cx="685800" cy="685800"/>
          </a:xfrm>
          <a:prstGeom prst="ellipse">
            <a:avLst/>
          </a:prstGeom>
          <a:solidFill>
            <a:srgbClr val="DCE6F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🖋️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42976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Hizmet Sözleşmeleri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93776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İG Uzmanı / İşyeri Hekimi sözleşme süresi ve yasal asgari süre karşılaştırması.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402336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4297680"/>
            <a:ext cx="685800" cy="685800"/>
          </a:xfrm>
          <a:prstGeom prst="ellipse">
            <a:avLst/>
          </a:prstGeom>
          <a:solidFill>
            <a:srgbClr val="DCE6F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9224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📝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360920" y="42976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Sınav Oluşturucu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493776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Verilen eğitimin öğrenildiğini ölçen soru bankası ve otomatik sınav üretimi.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Yönetim ve Raporlama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İSG Kurulu toplantıları resmi tutanağa bağlanır; Uygunsuzluk (DÖF) süreci kök nedenden kapanışa kadar izlenir.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5486400" cy="34632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27000" dist="50800" dir="5400000">
              <a:srgbClr val="0B1A33">
                <a:alpha val="35000"/>
              </a:srgbClr>
            </a:outerShdw>
          </a:effectLst>
        </p:spPr>
      </p:sp>
      <p:pic>
        <p:nvPicPr>
          <p:cNvPr id="5" name="Image 0" descr="/tmp/claude-0/-home-user-risk361/f13354e1-b2cc-52ad-9c31-b8bd883bf31d/scratchpad/pptx/shots/08-kur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91640"/>
            <a:ext cx="5394960" cy="33718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17920" y="1645920"/>
            <a:ext cx="5486400" cy="34632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27000" dist="50800" dir="5400000">
              <a:srgbClr val="0B1A33">
                <a:alpha val="35000"/>
              </a:srgbClr>
            </a:outerShdw>
          </a:effectLst>
        </p:spPr>
      </p:sp>
      <p:pic>
        <p:nvPicPr>
          <p:cNvPr id="7" name="Image 1" descr="/tmp/claude-0/-home-user-risk361/f13354e1-b2cc-52ad-9c31-b8bd883bf31d/scratchpad/pptx/shots/07-uygunsuzluk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691640"/>
            <a:ext cx="5394960" cy="33718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50749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İSG Kurulu — toplantı, karar ve imza takibi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263640" y="50749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Uygunsuzluk (DÖF) — kök neden ve kapanış takibi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Modüller birbirine bağlıdır — bu sistemin gerçek gücü burada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kayıt tek bir modülde kalmaz — ilgili olduğu her yere otomatik yansır. Örnek: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F5A62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🚑  Bir iş kazası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B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kaydedilir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474720" y="2354580"/>
            <a:ext cx="1508760" cy="388620"/>
          </a:xfrm>
          <a:prstGeom prst="line">
            <a:avLst/>
          </a:prstGeom>
          <a:noFill/>
          <a:ln w="19050">
            <a:solidFill>
              <a:srgbClr val="9FB3D1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4160520" y="2377440"/>
            <a:ext cx="3108960" cy="731520"/>
          </a:xfrm>
          <a:prstGeom prst="roundRect">
            <a:avLst>
              <a:gd name="adj" fmla="val 8750"/>
            </a:avLst>
          </a:prstGeom>
          <a:solidFill>
            <a:srgbClr val="0B1A33"/>
          </a:solidFill>
          <a:ln w="12700">
            <a:solidFill>
              <a:srgbClr val="2C5F8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97680" y="23774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Risk kaydına</a:t>
            </a:r>
            <a:endParaRPr lang="en-US" sz="11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otomatik düşer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0" y="2354580"/>
            <a:ext cx="1508760" cy="1348740"/>
          </a:xfrm>
          <a:prstGeom prst="line">
            <a:avLst/>
          </a:prstGeom>
          <a:noFill/>
          <a:ln w="19050">
            <a:solidFill>
              <a:srgbClr val="9FB3D1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160520" y="3337560"/>
            <a:ext cx="3108960" cy="731520"/>
          </a:xfrm>
          <a:prstGeom prst="roundRect">
            <a:avLst>
              <a:gd name="adj" fmla="val 8750"/>
            </a:avLst>
          </a:prstGeom>
          <a:solidFill>
            <a:srgbClr val="0B1A33"/>
          </a:solidFill>
          <a:ln w="12700">
            <a:solidFill>
              <a:srgbClr val="2C5F8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97680" y="33375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Uygunsuzluk/DÖF</a:t>
            </a:r>
            <a:endParaRPr lang="en-US" sz="11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süreci başlar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74720" y="2354580"/>
            <a:ext cx="1508760" cy="2308860"/>
          </a:xfrm>
          <a:prstGeom prst="line">
            <a:avLst/>
          </a:prstGeom>
          <a:noFill/>
          <a:ln w="19050">
            <a:solidFill>
              <a:srgbClr val="9FB3D1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160520" y="4297680"/>
            <a:ext cx="3108960" cy="731520"/>
          </a:xfrm>
          <a:prstGeom prst="roundRect">
            <a:avLst>
              <a:gd name="adj" fmla="val 8750"/>
            </a:avLst>
          </a:prstGeom>
          <a:solidFill>
            <a:srgbClr val="0B1A33"/>
          </a:solidFill>
          <a:ln w="12700">
            <a:solidFill>
              <a:srgbClr val="2C5F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9768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 Kurul toplantı</a:t>
            </a:r>
            <a:endParaRPr lang="en-US" sz="11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raporuna işlenir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474720" y="2354580"/>
            <a:ext cx="1508760" cy="3268980"/>
          </a:xfrm>
          <a:prstGeom prst="line">
            <a:avLst/>
          </a:prstGeom>
          <a:noFill/>
          <a:ln w="19050">
            <a:solidFill>
              <a:srgbClr val="9FB3D1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4160520" y="5257800"/>
            <a:ext cx="3108960" cy="731520"/>
          </a:xfrm>
          <a:prstGeom prst="roundRect">
            <a:avLst>
              <a:gd name="adj" fmla="val 8750"/>
            </a:avLst>
          </a:prstGeom>
          <a:solidFill>
            <a:srgbClr val="0B1A33"/>
          </a:solidFill>
          <a:ln w="12700">
            <a:solidFill>
              <a:srgbClr val="2C5F8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97680" y="52578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Merkezi Aksiyon</a:t>
            </a:r>
            <a:endParaRPr lang="en-US" sz="11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listesinde görünür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16052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Sonuç: hiçbir kayıt tek başına kalmaz, hiçbir termin unutulmaz — aşağıdaki ekran, üç ayrı modülden (Acil Durum + Uygunsuzluk) gelen açık işlerin tek listede toplandığını gösteriyor: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0" y="4114800"/>
            <a:ext cx="6126480" cy="3863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27000" dist="50800" dir="5400000">
              <a:srgbClr val="0B1A33">
                <a:alpha val="35000"/>
              </a:srgbClr>
            </a:outerShdw>
          </a:effectLst>
        </p:spPr>
      </p:sp>
      <p:pic>
        <p:nvPicPr>
          <p:cNvPr id="20" name="Image 0" descr="/tmp/claude-0/-home-user-risk361/f13354e1-b2cc-52ad-9c31-b8bd883bf31d/scratchpad/pptx/shots/09-merkezi-aksiy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4160520"/>
            <a:ext cx="6035040" cy="377190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Birkaç tıkla, denetime hazır resmi çıktılar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modül kendi verisinden, doğru yasal formatta rapor üretir — elle yazmaya gerek kalmaz.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606040" cy="30175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63040" y="2148840"/>
            <a:ext cx="960120" cy="960120"/>
          </a:xfrm>
          <a:prstGeom prst="roundRect">
            <a:avLst>
              <a:gd name="adj" fmla="val 47619"/>
            </a:avLst>
          </a:prstGeom>
          <a:solidFill>
            <a:srgbClr val="FF6B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63040" y="21488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📄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5760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Kaza raporu, ekip görevlendirme yazısı, kurul tutanağı, numune değerlendirme formu...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29000" y="1874520"/>
            <a:ext cx="2606040" cy="30175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51960" y="2148840"/>
            <a:ext cx="960120" cy="960120"/>
          </a:xfrm>
          <a:prstGeom prst="roundRect">
            <a:avLst>
              <a:gd name="adj" fmla="val 47619"/>
            </a:avLst>
          </a:prstGeom>
          <a:solidFill>
            <a:srgbClr val="E23B3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51960" y="21488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📕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32461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PDF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365760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değerlendirme raporu, iş izni formu, eğitim sertifikası, kontrol formu...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1874520"/>
            <a:ext cx="2606040" cy="30175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040880" y="2148840"/>
            <a:ext cx="960120" cy="960120"/>
          </a:xfrm>
          <a:prstGeom prst="roundRect">
            <a:avLst>
              <a:gd name="adj" fmla="val 47619"/>
            </a:avLst>
          </a:prstGeom>
          <a:solidFill>
            <a:srgbClr val="16A3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040880" y="21488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32461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365760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Toplu içe/dışa aktarım şablonları, merkezi aksiyon listesi, sicil özeti...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06840" y="1874520"/>
            <a:ext cx="2606040" cy="30175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829800" y="2148840"/>
            <a:ext cx="960120" cy="960120"/>
          </a:xfrm>
          <a:prstGeom prst="roundRect">
            <a:avLst>
              <a:gd name="adj" fmla="val 47619"/>
            </a:avLst>
          </a:prstGeom>
          <a:solidFill>
            <a:srgbClr val="D9770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829800" y="21488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📽️</a:t>
            </a:r>
            <a:endParaRPr lang="en-US" sz="3200" dirty="0"/>
          </a:p>
        </p:txBody>
      </p:sp>
      <p:sp>
        <p:nvSpPr>
          <p:cNvPr id="22" name="Text 20"/>
          <p:cNvSpPr txBox="1"/>
          <p:nvPr/>
        </p:nvSpPr>
        <p:spPr>
          <a:xfrm>
            <a:off x="9006840" y="32461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PPTX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365760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değerlendirme sunumu, İSG Kurulu toplantı sunumu...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Ekibinizi eğitmek için: uygulama içi kullanım kılavuzu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panelin en üstündeki "📖 Kullanım Kılavuzu" butonuyla açılan sayfa, 24 modülün her birini kim, ne, nasıl girer / hangi raporlar çıkar / hangi modülle bağlantılıdır sorularıyla anlatır. Uygulamayı hiç görmemiş bir çalışan bile tek başına okuyup öğrenebilir.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217920" y="1005840"/>
            <a:ext cx="5486400" cy="34632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27000" dist="50800" dir="5400000">
              <a:srgbClr val="0B1A33">
                <a:alpha val="35000"/>
              </a:srgbClr>
            </a:outerShdw>
          </a:effectLst>
        </p:spPr>
      </p:sp>
      <p:pic>
        <p:nvPicPr>
          <p:cNvPr id="5" name="Image 0" descr="/tmp/claude-0/-home-user-risk361/f13354e1-b2cc-52ad-9c31-b8bd883bf31d/scratchpad/pptx/shots/03-kilavuz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63640" y="1051560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0B1A3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64008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Dağınık kayıttan,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izlenebilir bir bütüne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640080" cy="640080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</a:rPr>
              <a:t>⏱️</a:t>
            </a:r>
            <a:endParaRPr lang="en-US" sz="196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30428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Zaman tasarrufu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679192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Rapor hazırlamak saatler değil dakikalar sürer.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2331720"/>
            <a:ext cx="640080" cy="640080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</a:rPr>
              <a:t>🛡️</a:t>
            </a:r>
            <a:endParaRPr lang="en-US" sz="1960" dirty="0"/>
          </a:p>
        </p:txBody>
      </p:sp>
      <p:sp>
        <p:nvSpPr>
          <p:cNvPr id="10" name="Text 8"/>
          <p:cNvSpPr txBox="1"/>
          <p:nvPr/>
        </p:nvSpPr>
        <p:spPr>
          <a:xfrm>
            <a:off x="7086600" y="230428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Denetime her an hazır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086600" y="2679192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belgeler tek tıkla, eksiksiz ve doğru formatta.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640080" cy="640080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886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</a:rPr>
              <a:t>🔗</a:t>
            </a:r>
            <a:endParaRPr lang="en-US" sz="196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5876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Hiçbir kayıt kaybolmaz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4233672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Modüller birbirine bağlı — bir veri, ilgili her yere yansır.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3886200"/>
            <a:ext cx="640080" cy="640080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3886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</a:rPr>
              <a:t>✅</a:t>
            </a:r>
            <a:endParaRPr lang="en-US" sz="196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385876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Gerçek kaza riski azalır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4233672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Süresi geçen kontrol, kapanmayan uygunsuzluk gözden kaçmaz.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172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risk360 İSG Yönetim Platformu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2026-08-29T07:15:38Z</dcterms:created>
  <dcterms:modified xsi:type="dcterms:W3CDTF">2026-08-29T07:15:38Z</dcterms:modified>
</cp:coreProperties>
</file>